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0" r:id="rId5"/>
    <p:sldId id="257" r:id="rId6"/>
    <p:sldId id="270" r:id="rId7"/>
    <p:sldId id="261" r:id="rId8"/>
    <p:sldId id="264" r:id="rId9"/>
    <p:sldId id="265" r:id="rId10"/>
    <p:sldId id="262" r:id="rId11"/>
    <p:sldId id="267" r:id="rId12"/>
    <p:sldId id="268" r:id="rId13"/>
    <p:sldId id="266" r:id="rId14"/>
    <p:sldId id="269" r:id="rId15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511" autoAdjust="0"/>
  </p:normalViewPr>
  <p:slideViewPr>
    <p:cSldViewPr snapToGrid="0">
      <p:cViewPr varScale="1">
        <p:scale>
          <a:sx n="109" d="100"/>
          <a:sy n="109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800825D-EC99-4D62-8393-9534AEFB0A99}" type="datetime1">
              <a:rPr lang="hu-HU" smtClean="0"/>
              <a:t>2026. 05. 20.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4807A-613B-42BC-B384-5D62984C73CB}" type="datetime1">
              <a:rPr lang="hu-HU" smtClean="0"/>
              <a:pPr/>
              <a:t>2026. 05. 20.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hu-HU" noProof="0" smtClean="0"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4F0D-57E3-50D6-A44D-614F9BF9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15A1209-DBFA-8FE9-2154-F0FF8E8D0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D2B21D0-46F8-15E8-C6B2-CFC5DFB5B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9481A7B-E800-7A70-5B27-233F2CB37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9479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18106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1941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01951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75222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55283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51627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10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92286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hu-HU" smtClean="0"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3242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soport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Szabadkézi sokszög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Szabadkézi sokszög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Szabadkézi sokszög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F559A9-47EA-417B-8E38-B708911B048D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732EF8-6E14-4FCA-8329-BC522403FC63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0D5A87-E238-4DF8-B8BB-84B9C4A164CC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983E90-3036-46DA-B630-659D8419F8AA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0D1DE2-8644-4B0B-9BBE-92ACE77F478B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078BFD-E56C-489D-A9AF-A054C0FEB3D0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5B119A-0263-4BFD-8E04-85549C1AC79A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8DB273-00F6-47F6-8FA5-600231C693FF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4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568E9F-B5F6-4012-B535-B4609C6C6552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zéles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7432B6-6EF7-46EF-B943-DFEB4232B4CB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felir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771944-2582-4D75-884D-9838C61474FE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z="8000" noProof="0" dirty="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15" name="Szövegdoboz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4121EF-254D-4122-9CA9-AB9FC02EE7F6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j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4CA16-CBE2-49EE-8F32-B5462B64B922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jegy – idéz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z="8000" noProof="0" dirty="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15" name="Szövegdoboz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CC2A0-9FD8-4856-9EEA-C56A6EFF1E12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31D4A3-AF16-40AA-94A3-B4CC37907A91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791A6C-6A65-4FAC-B05A-92A5264E623D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95CB84-F856-4AF6-A22D-151ADDDACB8E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soport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Szabadkézi sokszög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Szabadkézi sokszög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Szabadkézi sokszög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Szabadkézi sokszög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Szabadkézi sokszög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Szabadkézi sokszög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-HU" noProof="0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E9523521-91F6-476D-B771-5A076A0F6CFB}" type="datetime1">
              <a:rPr lang="hu-HU" noProof="0" smtClean="0"/>
              <a:t>2026. 05. 20.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418" y="505050"/>
            <a:ext cx="9021158" cy="923182"/>
          </a:xfrm>
        </p:spPr>
        <p:txBody>
          <a:bodyPr rtlCol="0">
            <a:normAutofit/>
          </a:bodyPr>
          <a:lstStyle/>
          <a:p>
            <a:pPr algn="ctr"/>
            <a:r>
              <a:rPr lang="hu-HU" sz="5400" b="1" dirty="0"/>
              <a:t>E-könyvtár — Prezentáció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E5CBA47-F839-CD47-5ADA-C7FB1BE3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330" y="4404788"/>
            <a:ext cx="4765335" cy="2489561"/>
          </a:xfrm>
          <a:prstGeom prst="rect">
            <a:avLst/>
          </a:prstGeom>
        </p:spPr>
      </p:pic>
      <p:sp>
        <p:nvSpPr>
          <p:cNvPr id="3" name="Alcím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8749" y="1880187"/>
            <a:ext cx="4014499" cy="2656617"/>
          </a:xfrm>
        </p:spPr>
        <p:txBody>
          <a:bodyPr rtlCol="0">
            <a:normAutofit/>
          </a:bodyPr>
          <a:lstStyle/>
          <a:p>
            <a:pPr algn="ctr" rtl="0"/>
            <a:r>
              <a:rPr lang="hu-HU" b="1" dirty="0"/>
              <a:t>A projekt csapata</a:t>
            </a:r>
            <a:endParaRPr lang="hu-HU" dirty="0"/>
          </a:p>
          <a:p>
            <a:pPr algn="ctr" rtl="0">
              <a:spcAft>
                <a:spcPts val="0"/>
              </a:spcAft>
            </a:pPr>
            <a:r>
              <a:rPr lang="hu-HU" sz="1800" b="1" dirty="0"/>
              <a:t>Projektmenedzsment &amp; prezentáció</a:t>
            </a: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hu-HU" sz="1600" dirty="0"/>
              <a:t>Rapajkó Mihály Roland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hu-HU" sz="1800" b="1" dirty="0"/>
              <a:t>Frontend &amp; UI/UX design</a:t>
            </a:r>
          </a:p>
          <a:p>
            <a:pPr algn="ctr" rtl="0">
              <a:spcBef>
                <a:spcPts val="0"/>
              </a:spcBef>
            </a:pPr>
            <a:r>
              <a:rPr lang="hu-HU" sz="1600" dirty="0"/>
              <a:t>Kruzslicz Balázs Zoltán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hu-HU" sz="1800" b="1" dirty="0"/>
              <a:t>Backend &amp; API architektúra</a:t>
            </a:r>
          </a:p>
          <a:p>
            <a:pPr algn="ctr" rtl="0">
              <a:spcBef>
                <a:spcPts val="0"/>
              </a:spcBef>
            </a:pPr>
            <a:r>
              <a:rPr lang="hu-HU" sz="1600" dirty="0"/>
              <a:t>Bálint Zoltán Richárd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58" y="362188"/>
            <a:ext cx="6471138" cy="896815"/>
          </a:xfrm>
        </p:spPr>
        <p:txBody>
          <a:bodyPr rtlCol="0">
            <a:normAutofit fontScale="90000"/>
          </a:bodyPr>
          <a:lstStyle/>
          <a:p>
            <a:r>
              <a:rPr lang="hu-HU" b="1" dirty="0"/>
              <a:t>Miért fejlesztettük a rendszert?</a:t>
            </a:r>
            <a:endParaRPr lang="hu-HU" sz="2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93C8D5A-F4BC-7965-918E-ACC9888E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E9547CC-57F6-7FEF-10EA-23F13A47A125}"/>
              </a:ext>
            </a:extLst>
          </p:cNvPr>
          <p:cNvSpPr txBox="1"/>
          <p:nvPr/>
        </p:nvSpPr>
        <p:spPr>
          <a:xfrm>
            <a:off x="4280139" y="1114571"/>
            <a:ext cx="467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/>
              <a:t>Technológiai modernizáció (2026)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FA2509C7-79DF-2026-DF59-D01BF22B0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170" y="1852932"/>
            <a:ext cx="9335659" cy="3175366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hu-HU" dirty="0"/>
              <a:t>A legtöbb intézményi rendszer ma is hagyományos, szerveralapú (pl. PHP vagy Java alapú) architektúrákra épül, amelyek gyakran:</a:t>
            </a:r>
          </a:p>
          <a:p>
            <a:pPr lvl="1">
              <a:lnSpc>
                <a:spcPct val="150000"/>
              </a:lnSpc>
            </a:pPr>
            <a:r>
              <a:rPr lang="hu-HU" dirty="0"/>
              <a:t>korlátozott felhasználói élményt nyújtanak modern webes elvárásokhoz képest</a:t>
            </a:r>
          </a:p>
          <a:p>
            <a:pPr lvl="1">
              <a:lnSpc>
                <a:spcPct val="150000"/>
              </a:lnSpc>
            </a:pPr>
            <a:r>
              <a:rPr lang="hu-HU" dirty="0"/>
              <a:t>nehezebben skálázhatók és bővíthetők korszerű UI/UX igények mellett</a:t>
            </a:r>
          </a:p>
          <a:p>
            <a:pPr lvl="1">
              <a:lnSpc>
                <a:spcPct val="150000"/>
              </a:lnSpc>
            </a:pPr>
            <a:r>
              <a:rPr lang="hu-HU" dirty="0"/>
              <a:t>kevésbé rugalmasak a gyors fejlesztési és integrációs igényekhez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C01F07D-990A-93F8-6EE8-6F92D56E140A}"/>
              </a:ext>
            </a:extLst>
          </p:cNvPr>
          <p:cNvSpPr txBox="1"/>
          <p:nvPr/>
        </p:nvSpPr>
        <p:spPr>
          <a:xfrm>
            <a:off x="4056182" y="5657974"/>
            <a:ext cx="5134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i="1" dirty="0"/>
              <a:t>Célunk egy korszerű, felhasználóbarát webes megoldás, amely megfelel a mai elvárásoknak.</a:t>
            </a:r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137B0-A507-CE34-5416-26AB13D35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2FCBD-58B7-7A80-EDDA-2C6823F4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096" y="328934"/>
            <a:ext cx="7226297" cy="896815"/>
          </a:xfrm>
        </p:spPr>
        <p:txBody>
          <a:bodyPr rtlCol="0">
            <a:noAutofit/>
          </a:bodyPr>
          <a:lstStyle/>
          <a:p>
            <a:r>
              <a:rPr lang="hu-HU" sz="3600" b="1" dirty="0">
                <a:solidFill>
                  <a:schemeClr val="bg1"/>
                </a:solidFill>
              </a:rPr>
              <a:t>Felhasználói élmény és elérhetőség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E91AB0A-5A64-B04E-F395-759282DFE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  <p:sp>
        <p:nvSpPr>
          <p:cNvPr id="7" name="Tartalom helye 6">
            <a:extLst>
              <a:ext uri="{FF2B5EF4-FFF2-40B4-BE49-F238E27FC236}">
                <a16:creationId xmlns:a16="http://schemas.microsoft.com/office/drawing/2014/main" id="{4422CCB9-A008-26B6-B213-CA24AF56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404" y="2802897"/>
            <a:ext cx="4642338" cy="2426677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hu-HU" sz="1800" dirty="0">
                <a:solidFill>
                  <a:schemeClr val="bg1"/>
                </a:solidFill>
              </a:rPr>
              <a:t>Ezzel szemben egy ismert, modern felület: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olyan élményt ad, mint a </a:t>
            </a:r>
            <a:r>
              <a:rPr lang="hu-HU" sz="1600" dirty="0" err="1">
                <a:solidFill>
                  <a:schemeClr val="bg1"/>
                </a:solidFill>
              </a:rPr>
              <a:t>Libri</a:t>
            </a:r>
            <a:r>
              <a:rPr lang="hu-HU" sz="1600" dirty="0">
                <a:solidFill>
                  <a:schemeClr val="bg1"/>
                </a:solidFill>
              </a:rPr>
              <a:t> / Líra / </a:t>
            </a:r>
            <a:r>
              <a:rPr lang="hu-HU" sz="1600" dirty="0" err="1">
                <a:solidFill>
                  <a:schemeClr val="bg1"/>
                </a:solidFill>
              </a:rPr>
              <a:t>Bookline</a:t>
            </a:r>
            <a:endParaRPr lang="hu-HU" sz="1600" dirty="0">
              <a:solidFill>
                <a:schemeClr val="bg1"/>
              </a:solidFill>
            </a:endParaRP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könnyen átlátható könyvkínálatot biztosít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gyors keresést és felfedezést tesz lehetővé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növeli az olvasási és könyvhasználati kedvet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6725D7D-9C98-F9EC-B90C-BB11CFA01F0F}"/>
              </a:ext>
            </a:extLst>
          </p:cNvPr>
          <p:cNvSpPr txBox="1"/>
          <p:nvPr/>
        </p:nvSpPr>
        <p:spPr>
          <a:xfrm>
            <a:off x="1585543" y="1139325"/>
            <a:ext cx="9677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>
                <a:solidFill>
                  <a:schemeClr val="bg1"/>
                </a:solidFill>
              </a:rPr>
              <a:t>A diákok nem szeretnének könyveket keresni egy</a:t>
            </a:r>
            <a:br>
              <a:rPr lang="hu-HU" i="1" dirty="0">
                <a:solidFill>
                  <a:schemeClr val="bg1"/>
                </a:solidFill>
              </a:rPr>
            </a:br>
            <a:r>
              <a:rPr lang="hu-HU" i="1" dirty="0">
                <a:solidFill>
                  <a:schemeClr val="bg1"/>
                </a:solidFill>
              </a:rPr>
              <a:t>átláthatatlan rendszerben vagy fizikailag bolyongani az épületben.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F715E16-B1A3-E32D-B7CC-6A7C6A23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438" y="2030868"/>
            <a:ext cx="4144075" cy="1990290"/>
          </a:xfrm>
          <a:prstGeom prst="roundRect">
            <a:avLst>
              <a:gd name="adj" fmla="val 284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DA8613BC-B1CC-CAC8-6B4E-2208A3742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273" y="3026013"/>
            <a:ext cx="4137514" cy="1980794"/>
          </a:xfrm>
          <a:prstGeom prst="roundRect">
            <a:avLst>
              <a:gd name="adj" fmla="val 201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3A83284F-56E9-3C80-80E1-F439965DA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4469819"/>
            <a:ext cx="4144075" cy="2059249"/>
          </a:xfrm>
          <a:prstGeom prst="roundRect">
            <a:avLst>
              <a:gd name="adj" fmla="val 326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2317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795" y="301488"/>
            <a:ext cx="4754831" cy="926122"/>
          </a:xfrm>
        </p:spPr>
        <p:txBody>
          <a:bodyPr rtlCol="0">
            <a:normAutofit fontScale="90000"/>
          </a:bodyPr>
          <a:lstStyle/>
          <a:p>
            <a:r>
              <a:rPr lang="hu-HU" b="1" dirty="0"/>
              <a:t>Általános specifikáció</a:t>
            </a:r>
            <a:endParaRPr lang="hu-HU" sz="24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F7F8C35-C538-7435-1256-BE12B819122D}"/>
              </a:ext>
            </a:extLst>
          </p:cNvPr>
          <p:cNvSpPr txBox="1"/>
          <p:nvPr/>
        </p:nvSpPr>
        <p:spPr>
          <a:xfrm>
            <a:off x="5070473" y="1042944"/>
            <a:ext cx="291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/>
              <a:t>Mit tud a rendszerünk?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57C469F-AC7B-075A-4086-D169C4DDF597}"/>
              </a:ext>
            </a:extLst>
          </p:cNvPr>
          <p:cNvSpPr txBox="1"/>
          <p:nvPr/>
        </p:nvSpPr>
        <p:spPr>
          <a:xfrm>
            <a:off x="660838" y="2318640"/>
            <a:ext cx="5495192" cy="258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Felhasználói felület</a:t>
            </a:r>
          </a:p>
          <a:p>
            <a:pPr algn="ctr">
              <a:spcAft>
                <a:spcPts val="3000"/>
              </a:spcAft>
            </a:pPr>
            <a:r>
              <a:rPr lang="hu-HU" sz="1400" b="1" i="1" dirty="0"/>
              <a:t>Diákok és tanárok számára</a:t>
            </a:r>
            <a:endParaRPr lang="hu-HU" b="1" i="1" dirty="0"/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könyvek böngészés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könyvadatlap megtekintése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saját kölcsönzések kezelése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határidők követése</a:t>
            </a:r>
            <a:endParaRPr lang="hu-HU" b="1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B11A9A9-CFF0-6F22-0F5D-C768A5CF510B}"/>
              </a:ext>
            </a:extLst>
          </p:cNvPr>
          <p:cNvSpPr txBox="1"/>
          <p:nvPr/>
        </p:nvSpPr>
        <p:spPr>
          <a:xfrm>
            <a:off x="6156030" y="2348191"/>
            <a:ext cx="5495192" cy="258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Admin Panel</a:t>
            </a:r>
          </a:p>
          <a:p>
            <a:pPr algn="ctr">
              <a:spcAft>
                <a:spcPts val="3000"/>
              </a:spcAft>
            </a:pPr>
            <a:r>
              <a:rPr lang="hu-HU" sz="1400" b="1" i="1" dirty="0"/>
              <a:t>Könyvtárosok számára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könyvek kezelése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kölcsönzések nyilvántartása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felhasználók kezelése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törzsadatok módosítása</a:t>
            </a:r>
            <a:endParaRPr lang="hu-HU" b="1" i="1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2043DF0C-F534-001A-13CE-73461DC97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26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35" y="571468"/>
            <a:ext cx="5492536" cy="1030643"/>
          </a:xfrm>
        </p:spPr>
        <p:txBody>
          <a:bodyPr rtlCol="0">
            <a:normAutofit/>
          </a:bodyPr>
          <a:lstStyle/>
          <a:p>
            <a:pPr algn="l"/>
            <a:r>
              <a:rPr lang="hu-HU" sz="3600" b="1" dirty="0"/>
              <a:t>A nyilvános felület funkciói</a:t>
            </a:r>
            <a:endParaRPr lang="hu-HU" sz="20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35" y="1886710"/>
            <a:ext cx="5238676" cy="4614333"/>
          </a:xfrm>
        </p:spPr>
        <p:txBody>
          <a:bodyPr rtlCol="0" anchor="t">
            <a:normAutofit fontScale="92500"/>
          </a:bodyPr>
          <a:lstStyle/>
          <a:p>
            <a:r>
              <a:rPr lang="hu-HU" sz="2000" b="1" dirty="0"/>
              <a:t>Egyszerű bejelentkezés és regisztráció</a:t>
            </a:r>
            <a:r>
              <a:rPr lang="hu-HU" sz="2000" dirty="0"/>
              <a:t> e-mail címmel és jelszóval </a:t>
            </a:r>
          </a:p>
          <a:p>
            <a:r>
              <a:rPr lang="hu-HU" sz="2000" b="1" dirty="0"/>
              <a:t>Elfelejtett jelszó kezelése</a:t>
            </a:r>
            <a:r>
              <a:rPr lang="hu-HU" sz="2000" dirty="0"/>
              <a:t>: OTP-kód e-mailben, majd gyors jelszócsere </a:t>
            </a:r>
          </a:p>
          <a:p>
            <a:r>
              <a:rPr lang="hu-HU" sz="2000" b="1" dirty="0"/>
              <a:t>Intelligens kereső a főoldalon</a:t>
            </a:r>
            <a:r>
              <a:rPr lang="hu-HU" sz="2000" dirty="0"/>
              <a:t> cím, szerző vagy kategória alapján </a:t>
            </a:r>
          </a:p>
          <a:p>
            <a:r>
              <a:rPr lang="hu-HU" sz="2000" b="1" dirty="0"/>
              <a:t>Részletes könyvadatlapok</a:t>
            </a:r>
            <a:r>
              <a:rPr lang="hu-HU" sz="2000" dirty="0"/>
              <a:t> borítóval, leírással, készletinformációval és értékelésekkel </a:t>
            </a:r>
          </a:p>
          <a:p>
            <a:r>
              <a:rPr lang="hu-HU" sz="2000" b="1" dirty="0"/>
              <a:t>Diák dashboard</a:t>
            </a:r>
            <a:r>
              <a:rPr lang="hu-HU" sz="2000" dirty="0"/>
              <a:t> az aktuális kölcsönzések, határidők és korábbi bérlések áttekintésére </a:t>
            </a:r>
          </a:p>
          <a:p>
            <a:r>
              <a:rPr lang="hu-HU" sz="2000" b="1" dirty="0"/>
              <a:t>Fokozott bejelentkezési védelem</a:t>
            </a:r>
            <a:r>
              <a:rPr lang="hu-HU" sz="2000" dirty="0"/>
              <a:t>: többszöri hibás próbálkozás esetén eszközszintű zárolás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4C755D9-B6A0-40D4-9EA4-84B6B14C6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916" y="219262"/>
            <a:ext cx="3898574" cy="1801943"/>
          </a:xfrm>
          <a:prstGeom prst="roundRect">
            <a:avLst>
              <a:gd name="adj" fmla="val 49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2195172-6D2A-401F-AC98-DF0C7BC05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404" y="1258153"/>
            <a:ext cx="3898574" cy="1854721"/>
          </a:xfrm>
          <a:prstGeom prst="roundRect">
            <a:avLst>
              <a:gd name="adj" fmla="val 708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EEC61FC-2CE5-FD45-BB39-62B5A92D5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7F6131E-7364-BF84-F3FF-7D9A82095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864" y="2290431"/>
            <a:ext cx="3898574" cy="1861334"/>
          </a:xfrm>
          <a:prstGeom prst="roundRect">
            <a:avLst>
              <a:gd name="adj" fmla="val 347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66FA1C3-BCFF-32FC-AC71-2BE6ACBBF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0404" y="3608446"/>
            <a:ext cx="3898574" cy="1882776"/>
          </a:xfrm>
          <a:prstGeom prst="roundRect">
            <a:avLst>
              <a:gd name="adj" fmla="val 362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641A101-EC11-0967-FCD7-69ACA9F0A2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864" y="4753624"/>
            <a:ext cx="4009812" cy="1911922"/>
          </a:xfrm>
          <a:prstGeom prst="roundRect">
            <a:avLst>
              <a:gd name="adj" fmla="val 382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64330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75" y="369521"/>
            <a:ext cx="3355850" cy="729762"/>
          </a:xfrm>
        </p:spPr>
        <p:txBody>
          <a:bodyPr rtlCol="0">
            <a:normAutofit/>
          </a:bodyPr>
          <a:lstStyle/>
          <a:p>
            <a:pPr algn="l"/>
            <a:r>
              <a:rPr lang="hu-HU" b="1" dirty="0"/>
              <a:t>Admin Panel</a:t>
            </a:r>
            <a:endParaRPr lang="hu-HU" sz="24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43" y="1259906"/>
            <a:ext cx="5167313" cy="5138614"/>
          </a:xfrm>
        </p:spPr>
        <p:txBody>
          <a:bodyPr rtlCol="0" anchor="t">
            <a:normAutofit fontScale="92500"/>
          </a:bodyPr>
          <a:lstStyle/>
          <a:p>
            <a:r>
              <a:rPr lang="hu-HU" sz="2000" b="1" dirty="0"/>
              <a:t>Átlátható </a:t>
            </a:r>
            <a:r>
              <a:rPr lang="hu-HU" sz="2000" b="1" dirty="0" err="1"/>
              <a:t>admin</a:t>
            </a:r>
            <a:r>
              <a:rPr lang="hu-HU" sz="2000" b="1" dirty="0"/>
              <a:t> dashboard</a:t>
            </a:r>
            <a:r>
              <a:rPr lang="hu-HU" sz="2000" dirty="0"/>
              <a:t> statisztikákkal, napi visszahozatalokkal és a legnépszerűbb könyvek listájával </a:t>
            </a:r>
          </a:p>
          <a:p>
            <a:r>
              <a:rPr lang="hu-HU" sz="2000" b="1" dirty="0"/>
              <a:t>Könyvkezelő rendszer</a:t>
            </a:r>
            <a:r>
              <a:rPr lang="hu-HU" sz="2000" dirty="0"/>
              <a:t> teljes CRUD támogatással, ISBN-kezeléssel, készletnyilvántartással és borítókép feltöltéssel </a:t>
            </a:r>
          </a:p>
          <a:p>
            <a:r>
              <a:rPr lang="hu-HU" sz="2000" b="1" dirty="0"/>
              <a:t>Egyszerű kölcsönzéskezelés</a:t>
            </a:r>
            <a:r>
              <a:rPr lang="hu-HU" sz="2000" dirty="0"/>
              <a:t> diák és könyv kiválasztásával, automatikus lezárással visszahozáskor </a:t>
            </a:r>
          </a:p>
          <a:p>
            <a:r>
              <a:rPr lang="hu-HU" sz="2000" b="1" dirty="0"/>
              <a:t>Felhasználókezelés</a:t>
            </a:r>
            <a:r>
              <a:rPr lang="hu-HU" sz="2000" dirty="0"/>
              <a:t> jogosultságokkal, </a:t>
            </a:r>
            <a:r>
              <a:rPr lang="hu-HU" sz="2000" dirty="0" err="1"/>
              <a:t>admin</a:t>
            </a:r>
            <a:r>
              <a:rPr lang="hu-HU" sz="2000" dirty="0"/>
              <a:t> szerepkörökkel és üzenetküldési lehetőséggel </a:t>
            </a:r>
          </a:p>
          <a:p>
            <a:r>
              <a:rPr lang="hu-HU" sz="2000" b="1" dirty="0"/>
              <a:t>Törzsadat-kezelés</a:t>
            </a:r>
            <a:r>
              <a:rPr lang="hu-HU" sz="2000" dirty="0"/>
              <a:t> kategóriák, szerzők, kiadók, iskolák és osztályok rendszerezésére </a:t>
            </a:r>
          </a:p>
          <a:p>
            <a:r>
              <a:rPr lang="hu-HU" sz="2000" b="1" dirty="0"/>
              <a:t>E-mail értesítési modul</a:t>
            </a:r>
            <a:r>
              <a:rPr lang="hu-HU" sz="2000" dirty="0"/>
              <a:t> formázott üzenetek küldésére diákok számára SMTP támogatással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9F1C25C-C55D-395A-1F72-DDCF2599E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B7FD67F-469A-4A85-779E-B5E11950D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211" y="562490"/>
            <a:ext cx="3918102" cy="1875665"/>
          </a:xfrm>
          <a:prstGeom prst="roundRect">
            <a:avLst>
              <a:gd name="adj" fmla="val 673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0C3E724-CF1D-F464-314A-E69787F2A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777" y="1500846"/>
            <a:ext cx="3918102" cy="1875753"/>
          </a:xfrm>
          <a:prstGeom prst="roundRect">
            <a:avLst>
              <a:gd name="adj" fmla="val 538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B14293D-A242-7012-1A28-9EC0C1EA4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211" y="2647134"/>
            <a:ext cx="3918102" cy="1883071"/>
          </a:xfrm>
          <a:prstGeom prst="roundRect">
            <a:avLst>
              <a:gd name="adj" fmla="val 677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367D9429-7EF5-CE51-CA80-FA5B00EB21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193" y="3607360"/>
            <a:ext cx="3934708" cy="1883790"/>
          </a:xfrm>
          <a:prstGeom prst="roundRect">
            <a:avLst>
              <a:gd name="adj" fmla="val 498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8318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443" y="552981"/>
            <a:ext cx="3819114" cy="649028"/>
          </a:xfrm>
        </p:spPr>
        <p:txBody>
          <a:bodyPr rtlCol="0">
            <a:normAutofit/>
          </a:bodyPr>
          <a:lstStyle/>
          <a:p>
            <a:r>
              <a:rPr lang="hu-HU" sz="3600" dirty="0" err="1"/>
              <a:t>Full-stack</a:t>
            </a:r>
            <a:r>
              <a:rPr lang="hu-HU" sz="3600" dirty="0"/>
              <a:t> felépítés</a:t>
            </a:r>
            <a:endParaRPr lang="hu-HU" sz="20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B62E65A-D829-48EC-DBF5-EB08DCD29A4D}"/>
              </a:ext>
            </a:extLst>
          </p:cNvPr>
          <p:cNvSpPr txBox="1"/>
          <p:nvPr/>
        </p:nvSpPr>
        <p:spPr>
          <a:xfrm>
            <a:off x="4760383" y="1206778"/>
            <a:ext cx="267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i="1" dirty="0"/>
              <a:t>Technológiai architektúra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2738646-233C-03F1-A29D-3E05FCD26BA4}"/>
              </a:ext>
            </a:extLst>
          </p:cNvPr>
          <p:cNvSpPr txBox="1"/>
          <p:nvPr/>
        </p:nvSpPr>
        <p:spPr>
          <a:xfrm>
            <a:off x="650877" y="1967280"/>
            <a:ext cx="233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Frontend</a:t>
            </a:r>
          </a:p>
          <a:p>
            <a:pPr>
              <a:spcBef>
                <a:spcPts val="1200"/>
              </a:spcBef>
            </a:pPr>
            <a:r>
              <a:rPr lang="hu-HU" sz="1600" b="1" i="1" dirty="0"/>
              <a:t>Felhasználói kliens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/>
              <a:t>React</a:t>
            </a:r>
            <a:r>
              <a:rPr lang="hu-HU" sz="1400" dirty="0"/>
              <a:t> + </a:t>
            </a:r>
            <a:r>
              <a:rPr lang="hu-HU" sz="1400" dirty="0" err="1"/>
              <a:t>Vite</a:t>
            </a:r>
            <a:endParaRPr lang="hu-H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/>
              <a:t>React</a:t>
            </a:r>
            <a:r>
              <a:rPr lang="hu-HU" sz="1400" dirty="0"/>
              <a:t> </a:t>
            </a:r>
            <a:r>
              <a:rPr lang="hu-HU" sz="1400" dirty="0" err="1"/>
              <a:t>Lucide</a:t>
            </a:r>
            <a:endParaRPr lang="hu-H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/>
              <a:t>Tailwind</a:t>
            </a:r>
            <a:r>
              <a:rPr lang="hu-HU" sz="1400" dirty="0"/>
              <a:t>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 err="1"/>
              <a:t>Axios</a:t>
            </a:r>
            <a:r>
              <a:rPr lang="hu-HU" sz="1400" dirty="0"/>
              <a:t> API kommunikáció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A78BC76-F987-D204-473A-6DEFB7B5D8D2}"/>
              </a:ext>
            </a:extLst>
          </p:cNvPr>
          <p:cNvSpPr txBox="1"/>
          <p:nvPr/>
        </p:nvSpPr>
        <p:spPr>
          <a:xfrm>
            <a:off x="6095999" y="2070378"/>
            <a:ext cx="2336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Backend</a:t>
            </a:r>
          </a:p>
          <a:p>
            <a:pPr>
              <a:spcBef>
                <a:spcPts val="1200"/>
              </a:spcBef>
            </a:pPr>
            <a:r>
              <a:rPr lang="hu-HU" sz="1600" b="1" i="1" dirty="0"/>
              <a:t>REST API szerver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dirty="0"/>
              <a:t>REST alapú </a:t>
            </a:r>
            <a:r>
              <a:rPr lang="hu-HU" sz="1400" dirty="0" err="1"/>
              <a:t>műkődés</a:t>
            </a:r>
            <a:endParaRPr lang="hu-HU" sz="1400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152B671-D367-EB0D-9F09-91D262B846B7}"/>
              </a:ext>
            </a:extLst>
          </p:cNvPr>
          <p:cNvSpPr txBox="1"/>
          <p:nvPr/>
        </p:nvSpPr>
        <p:spPr>
          <a:xfrm>
            <a:off x="8286200" y="4777581"/>
            <a:ext cx="233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Adatkezelés</a:t>
            </a:r>
          </a:p>
          <a:p>
            <a:pPr>
              <a:spcBef>
                <a:spcPts val="1200"/>
              </a:spcBef>
            </a:pPr>
            <a:r>
              <a:rPr lang="hu-HU" sz="1600" b="1" i="1" dirty="0"/>
              <a:t>Adatbázis réteg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i="1" dirty="0" err="1"/>
              <a:t>MySQL</a:t>
            </a:r>
            <a:r>
              <a:rPr lang="hu-HU" sz="1400" b="1" i="1" dirty="0"/>
              <a:t>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i="1" dirty="0" err="1"/>
              <a:t>Prisma</a:t>
            </a:r>
            <a:r>
              <a:rPr lang="hu-HU" sz="1400" b="1" i="1" dirty="0"/>
              <a:t> ORM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FF7DDF3-AABE-B27E-CEE8-17554FE22217}"/>
              </a:ext>
            </a:extLst>
          </p:cNvPr>
          <p:cNvSpPr txBox="1"/>
          <p:nvPr/>
        </p:nvSpPr>
        <p:spPr>
          <a:xfrm>
            <a:off x="2987677" y="4688642"/>
            <a:ext cx="3672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Kommunikáció</a:t>
            </a:r>
          </a:p>
          <a:p>
            <a:pPr>
              <a:spcBef>
                <a:spcPts val="1200"/>
              </a:spcBef>
            </a:pPr>
            <a:r>
              <a:rPr lang="hu-HU" sz="1600" b="1" i="1" dirty="0"/>
              <a:t>Adatátvitel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i="1" dirty="0"/>
              <a:t>HTTP /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i="1" dirty="0"/>
              <a:t>multipart/</a:t>
            </a:r>
            <a:r>
              <a:rPr lang="hu-HU" sz="1400" b="1" i="1" dirty="0" err="1"/>
              <a:t>form-data</a:t>
            </a:r>
            <a:r>
              <a:rPr lang="hu-HU" sz="1400" b="1" i="1" dirty="0"/>
              <a:t> fájlkezeléshez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6C182DD7-F4DC-1B81-9DA2-29623326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13" y="5600047"/>
            <a:ext cx="2693987" cy="14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45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074" y="330857"/>
            <a:ext cx="6300749" cy="917711"/>
          </a:xfrm>
        </p:spPr>
        <p:txBody>
          <a:bodyPr rtlCol="0">
            <a:normAutofit fontScale="90000"/>
          </a:bodyPr>
          <a:lstStyle/>
          <a:p>
            <a:r>
              <a:rPr lang="hu-HU" b="1" dirty="0"/>
              <a:t>Hitelesítés és útvonalvédelem</a:t>
            </a:r>
            <a:endParaRPr lang="hu-HU" sz="24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A78E583-6CD6-7D9A-1796-0BDC9B4DC52D}"/>
              </a:ext>
            </a:extLst>
          </p:cNvPr>
          <p:cNvSpPr txBox="1"/>
          <p:nvPr/>
        </p:nvSpPr>
        <p:spPr>
          <a:xfrm>
            <a:off x="2311932" y="2995384"/>
            <a:ext cx="37840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JSON Web </a:t>
            </a:r>
            <a:r>
              <a:rPr lang="hu-HU" b="1" dirty="0" err="1"/>
              <a:t>Token</a:t>
            </a:r>
            <a:r>
              <a:rPr lang="hu-HU" b="1" dirty="0"/>
              <a:t> alapú </a:t>
            </a:r>
            <a:r>
              <a:rPr lang="hu-HU" b="1" dirty="0" err="1"/>
              <a:t>autentikáció</a:t>
            </a:r>
            <a:endParaRPr lang="hu-HU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i="1" dirty="0"/>
              <a:t>Access &amp; </a:t>
            </a:r>
            <a:r>
              <a:rPr lang="hu-HU" sz="1400" i="1" dirty="0" err="1"/>
              <a:t>Refresh</a:t>
            </a:r>
            <a:r>
              <a:rPr lang="hu-HU" sz="1400" i="1" dirty="0"/>
              <a:t> </a:t>
            </a:r>
            <a:r>
              <a:rPr lang="hu-HU" sz="1400" i="1" dirty="0" err="1"/>
              <a:t>Token</a:t>
            </a:r>
            <a:r>
              <a:rPr lang="hu-HU" sz="1400" i="1" dirty="0"/>
              <a:t> rendszer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 err="1"/>
              <a:t>HttpOnly</a:t>
            </a:r>
            <a:r>
              <a:rPr lang="hu-HU" sz="1400" dirty="0"/>
              <a:t> </a:t>
            </a:r>
            <a:r>
              <a:rPr lang="hu-HU" sz="1400" dirty="0" err="1"/>
              <a:t>cookie</a:t>
            </a:r>
            <a:r>
              <a:rPr lang="hu-HU" sz="1400" dirty="0"/>
              <a:t> védelem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Automatikus munkamenet-kezelés</a:t>
            </a:r>
            <a:endParaRPr lang="hu-HU" sz="1400" i="1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92FAAA7-8AC2-AA6A-FC18-7256DC6778B0}"/>
              </a:ext>
            </a:extLst>
          </p:cNvPr>
          <p:cNvSpPr txBox="1"/>
          <p:nvPr/>
        </p:nvSpPr>
        <p:spPr>
          <a:xfrm>
            <a:off x="6521449" y="2887663"/>
            <a:ext cx="3784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Védett útvonalak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i="1" dirty="0" err="1"/>
              <a:t>RouterGuard</a:t>
            </a:r>
            <a:r>
              <a:rPr lang="hu-HU" sz="1400" i="1" dirty="0"/>
              <a:t> alapú hozzáférés-kezelés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i="1" dirty="0"/>
              <a:t>Profil és </a:t>
            </a:r>
            <a:r>
              <a:rPr lang="hu-HU" sz="1400" i="1" dirty="0" err="1"/>
              <a:t>admin</a:t>
            </a:r>
            <a:r>
              <a:rPr lang="hu-HU" sz="1400" i="1" dirty="0"/>
              <a:t> felületek védelme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i="1" dirty="0"/>
              <a:t>Automatikus átirányítás jogosulatlan hozzáférés esetén</a:t>
            </a:r>
          </a:p>
        </p:txBody>
      </p:sp>
    </p:spTree>
    <p:extLst>
      <p:ext uri="{BB962C8B-B14F-4D97-AF65-F5344CB8AC3E}">
        <p14:creationId xmlns:p14="http://schemas.microsoft.com/office/powerpoint/2010/main" val="474952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23" y="608543"/>
            <a:ext cx="2553176" cy="728132"/>
          </a:xfrm>
        </p:spPr>
        <p:txBody>
          <a:bodyPr rtlCol="0">
            <a:normAutofit/>
          </a:bodyPr>
          <a:lstStyle/>
          <a:p>
            <a:pPr algn="l"/>
            <a:r>
              <a:rPr lang="hu-HU" sz="3600" b="1" dirty="0"/>
              <a:t>Tesztelés</a:t>
            </a:r>
            <a:endParaRPr lang="hu-HU" sz="20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2C28220B-4DFE-4BB5-8F99-61B53EE43948}"/>
              </a:ext>
            </a:extLst>
          </p:cNvPr>
          <p:cNvSpPr txBox="1">
            <a:spLocks/>
          </p:cNvSpPr>
          <p:nvPr/>
        </p:nvSpPr>
        <p:spPr>
          <a:xfrm>
            <a:off x="3553125" y="2673350"/>
            <a:ext cx="5082571" cy="2269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hu-HU" sz="1800" b="1" dirty="0"/>
              <a:t> </a:t>
            </a:r>
            <a:r>
              <a:rPr lang="hu-HU" sz="2000" b="1" dirty="0"/>
              <a:t>Tesztelés:</a:t>
            </a:r>
            <a:endParaRPr lang="hu-HU" sz="1800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hu-HU" sz="1400" b="1" i="1" dirty="0"/>
              <a:t>Postman </a:t>
            </a:r>
            <a:r>
              <a:rPr lang="hu-HU" sz="1400" b="1" i="1" dirty="0" err="1"/>
              <a:t>Collection</a:t>
            </a:r>
            <a:endParaRPr lang="hu-HU" sz="1400" b="1" i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hu-HU" sz="1200" b="1" dirty="0"/>
              <a:t>	(Feketedobozos tesztelés)</a:t>
            </a:r>
          </a:p>
          <a:p>
            <a:pPr lvl="1">
              <a:spcBef>
                <a:spcPts val="0"/>
              </a:spcBef>
            </a:pPr>
            <a:r>
              <a:rPr lang="hu-HU" sz="1400" b="1" i="1" dirty="0"/>
              <a:t>Front- és Backend </a:t>
            </a:r>
            <a:r>
              <a:rPr lang="hu-HU" sz="1400" b="1" i="1" dirty="0" err="1"/>
              <a:t>Middleware</a:t>
            </a:r>
            <a:r>
              <a:rPr lang="hu-HU" sz="1400" b="1" i="1" dirty="0"/>
              <a:t>-ek védelmének tesztelése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hu-HU" sz="1400" b="1" dirty="0"/>
              <a:t>Kliensoldali komponensek tesztelése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sz="1400" b="1" dirty="0"/>
              <a:t>	</a:t>
            </a:r>
            <a:r>
              <a:rPr lang="hu-HU" sz="1200" b="1" i="1" dirty="0"/>
              <a:t>(fehérdobozos megközelítés)</a:t>
            </a:r>
            <a:endParaRPr lang="hu-HU" sz="1400" b="1" i="1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DE6580A-6923-9343-A415-46F06D6B9F28}"/>
              </a:ext>
            </a:extLst>
          </p:cNvPr>
          <p:cNvSpPr txBox="1"/>
          <p:nvPr/>
        </p:nvSpPr>
        <p:spPr>
          <a:xfrm>
            <a:off x="4616977" y="1272173"/>
            <a:ext cx="2954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/>
              <a:t>Alkalmazott tesztelési módszerek</a:t>
            </a:r>
          </a:p>
        </p:txBody>
      </p:sp>
    </p:spTree>
    <p:extLst>
      <p:ext uri="{BB962C8B-B14F-4D97-AF65-F5344CB8AC3E}">
        <p14:creationId xmlns:p14="http://schemas.microsoft.com/office/powerpoint/2010/main" val="2837267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562" y="498475"/>
            <a:ext cx="2520876" cy="838200"/>
          </a:xfrm>
        </p:spPr>
        <p:txBody>
          <a:bodyPr rtlCol="0">
            <a:normAutofit/>
          </a:bodyPr>
          <a:lstStyle/>
          <a:p>
            <a:pPr algn="l"/>
            <a:r>
              <a:rPr lang="hu-HU" sz="3600" b="1" dirty="0"/>
              <a:t>Adatmodell</a:t>
            </a:r>
            <a:endParaRPr lang="hu-HU" sz="20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A6EA2BE-167B-0DD2-623F-8E716C8D5623}"/>
              </a:ext>
            </a:extLst>
          </p:cNvPr>
          <p:cNvSpPr txBox="1"/>
          <p:nvPr/>
        </p:nvSpPr>
        <p:spPr>
          <a:xfrm>
            <a:off x="4754050" y="1169780"/>
            <a:ext cx="2683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i="1" dirty="0"/>
              <a:t>Relációs adatbázis felépítése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B6E7DE5-5133-DA39-2DCA-1737E72D6446}"/>
              </a:ext>
            </a:extLst>
          </p:cNvPr>
          <p:cNvSpPr txBox="1"/>
          <p:nvPr/>
        </p:nvSpPr>
        <p:spPr>
          <a:xfrm>
            <a:off x="2122759" y="2007981"/>
            <a:ext cx="24299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Felhasználók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személyes adatok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jogosultságok </a:t>
            </a:r>
            <a:r>
              <a:rPr lang="hu-HU" sz="1400" i="1" dirty="0"/>
              <a:t>(diák / </a:t>
            </a:r>
            <a:r>
              <a:rPr lang="hu-HU" sz="1400" i="1" dirty="0" err="1"/>
              <a:t>admin</a:t>
            </a:r>
            <a:r>
              <a:rPr lang="hu-HU" sz="1400" i="1" dirty="0"/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iskola és osztály kapcsolatokhitelesítési adatok </a:t>
            </a:r>
            <a:r>
              <a:rPr lang="hu-HU" sz="1400" i="1" dirty="0"/>
              <a:t>(</a:t>
            </a:r>
            <a:r>
              <a:rPr lang="hu-HU" sz="1400" i="1" dirty="0" err="1"/>
              <a:t>hashelt</a:t>
            </a:r>
            <a:r>
              <a:rPr lang="hu-HU" sz="1400" i="1" dirty="0"/>
              <a:t> azonosító, OTP)</a:t>
            </a:r>
            <a:endParaRPr lang="hu-HU" sz="1400" b="1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B152066-1B7A-F820-4190-B11AE768E6FB}"/>
              </a:ext>
            </a:extLst>
          </p:cNvPr>
          <p:cNvSpPr txBox="1"/>
          <p:nvPr/>
        </p:nvSpPr>
        <p:spPr>
          <a:xfrm>
            <a:off x="2122759" y="4353247"/>
            <a:ext cx="24299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Bérlések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felhasználó ↔ könyv kapcsolat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kölcsönzés kezdete és vége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visszahozási állapot</a:t>
            </a:r>
            <a:endParaRPr lang="hu-HU" sz="1400" b="1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6708EEC-7ED4-E38F-0C4E-EC1AAA7FB783}"/>
              </a:ext>
            </a:extLst>
          </p:cNvPr>
          <p:cNvSpPr txBox="1"/>
          <p:nvPr/>
        </p:nvSpPr>
        <p:spPr>
          <a:xfrm>
            <a:off x="4995999" y="4353246"/>
            <a:ext cx="24299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Vélemények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szöveges értékelések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csillagos pontozás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felhasználói visszajelzések</a:t>
            </a:r>
            <a:endParaRPr lang="hu-HU" sz="1400" b="1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3C888FC-3BF7-806C-8CFE-4CF6C9169AA9}"/>
              </a:ext>
            </a:extLst>
          </p:cNvPr>
          <p:cNvSpPr txBox="1"/>
          <p:nvPr/>
        </p:nvSpPr>
        <p:spPr>
          <a:xfrm>
            <a:off x="4996000" y="2007980"/>
            <a:ext cx="242993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Könyvek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cím, ISBN, leírás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Készletkezelés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szerző, kiadó és kategória kapcsolatok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értékelési adatok</a:t>
            </a:r>
            <a:endParaRPr lang="hu-HU" sz="1400" b="1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C9380C7-C440-0A07-F4E1-5544E37E6D9B}"/>
              </a:ext>
            </a:extLst>
          </p:cNvPr>
          <p:cNvSpPr txBox="1"/>
          <p:nvPr/>
        </p:nvSpPr>
        <p:spPr>
          <a:xfrm>
            <a:off x="7609142" y="2007979"/>
            <a:ext cx="24299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Törzsadatok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Szerzők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Kiadók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Kategóriák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Iskolák és osztályok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7F329C87-FBEF-190E-878F-CB91A355F490}"/>
              </a:ext>
            </a:extLst>
          </p:cNvPr>
          <p:cNvSpPr txBox="1"/>
          <p:nvPr/>
        </p:nvSpPr>
        <p:spPr>
          <a:xfrm>
            <a:off x="7609141" y="4107024"/>
            <a:ext cx="24299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hu-HU" b="1" dirty="0"/>
              <a:t>Biztonsági modul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bejelentkezési próbálkozások naplózása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brute-force védelem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1400" dirty="0"/>
              <a:t>ideiglenes kizárás kezelése</a:t>
            </a:r>
            <a:endParaRPr lang="hu-HU" sz="1400" b="1" dirty="0"/>
          </a:p>
        </p:txBody>
      </p:sp>
    </p:spTree>
    <p:extLst>
      <p:ext uri="{BB962C8B-B14F-4D97-AF65-F5344CB8AC3E}">
        <p14:creationId xmlns:p14="http://schemas.microsoft.com/office/powerpoint/2010/main" val="2244060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Téglalap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grpSp>
        <p:nvGrpSpPr>
          <p:cNvPr id="23" name="Csoport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Szabadkézi sokszög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Szabadkézi sokszög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Szabadkézi sokszög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Szabadkézi sokszög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Szabadkézi sokszög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Szabadkézi sokszög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864" y="2934524"/>
            <a:ext cx="8174971" cy="988951"/>
          </a:xfrm>
        </p:spPr>
        <p:txBody>
          <a:bodyPr rtlCol="0">
            <a:normAutofit/>
          </a:bodyPr>
          <a:lstStyle/>
          <a:p>
            <a:pPr algn="ctr"/>
            <a:r>
              <a:rPr lang="hu-HU" sz="4400" b="1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4113000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átószög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447_TF22644756.potx" id="{578A41F8-4A3C-4CE2-BE87-24562C7588B3}" vid="{60E4572C-1A85-4D38-A51C-F5AFB58C1002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71af3243-3dd4-4a8d-8c0d-dd76da1f02a5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Parallaxis arculat</Template>
  <TotalTime>198</TotalTime>
  <Words>513</Words>
  <Application>Microsoft Office PowerPoint</Application>
  <PresentationFormat>Szélesvásznú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Látószög</vt:lpstr>
      <vt:lpstr>E-könyvtár — Prezentáció</vt:lpstr>
      <vt:lpstr>Miért fejlesztettük a rendszert?</vt:lpstr>
      <vt:lpstr>Felhasználói élmény és elérhetőség</vt:lpstr>
      <vt:lpstr>Általános specifikáció</vt:lpstr>
      <vt:lpstr>A nyilvános felület funkciói</vt:lpstr>
      <vt:lpstr>Admin Panel</vt:lpstr>
      <vt:lpstr>Full-stack felépítés</vt:lpstr>
      <vt:lpstr>Hitelesítés és útvonalvédelem</vt:lpstr>
      <vt:lpstr>Tesztelés</vt:lpstr>
      <vt:lpstr>Adatmodell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Jeges</dc:creator>
  <cp:lastModifiedBy>Plane</cp:lastModifiedBy>
  <cp:revision>10</cp:revision>
  <dcterms:created xsi:type="dcterms:W3CDTF">2026-05-20T12:09:04Z</dcterms:created>
  <dcterms:modified xsi:type="dcterms:W3CDTF">2026-05-20T17:37:17Z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